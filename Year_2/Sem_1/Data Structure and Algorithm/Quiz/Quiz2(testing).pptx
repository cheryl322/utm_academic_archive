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0" r:id="rId5"/>
    <p:sldId id="257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SqFIQOfij92pWIUECtCPjRGV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924563C-7492-0B27-FDC7-BEC01B47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E5544DEF-BD0C-022E-880D-BEC80CA1B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4782998-FBA9-52BE-5FDB-53A6FE868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8634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86A619C-4F61-088F-4E31-09CAE92D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879A1C4D-6A6E-4EC2-C7B6-3832A54BA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2399EBCD-AD56-F579-D835-3DF84B72B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9034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0ECC912-A6B1-A35C-CAAB-DA2AA3C9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0FF57129-E6E8-6F5A-A3B8-FE01725C5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960CD2D-C097-ED91-B061-4F606143E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2342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AEC7D9AD-09BD-FCFD-36A6-3D6B863E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59C4E72A-3F18-16CD-BB4F-FDF82B54A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F5A7A15-64B5-E308-DC84-CB078E2CC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9647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339787"/>
            <a:ext cx="9144000" cy="117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MY"/>
              <a:t>SECJ2013 - DSA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2024/2025-1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QUIZ 2</a:t>
            </a:r>
            <a:endParaRPr dirty="0"/>
          </a:p>
        </p:txBody>
      </p:sp>
      <p:sp>
        <p:nvSpPr>
          <p:cNvPr id="86" name="Google Shape;86;p1"/>
          <p:cNvSpPr txBox="1"/>
          <p:nvPr/>
        </p:nvSpPr>
        <p:spPr>
          <a:xfrm>
            <a:off x="555810" y="484093"/>
            <a:ext cx="698350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16C8CBDE-1BD0-9949-BB66-6AC7F386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2">
            <a:extLst>
              <a:ext uri="{FF2B5EF4-FFF2-40B4-BE49-F238E27FC236}">
                <a16:creationId xmlns:a16="http://schemas.microsoft.com/office/drawing/2014/main" id="{5C60A8E6-347F-86D8-FEC9-92DE53FCA21D}"/>
              </a:ext>
            </a:extLst>
          </p:cNvPr>
          <p:cNvSpPr txBox="1"/>
          <p:nvPr/>
        </p:nvSpPr>
        <p:spPr>
          <a:xfrm>
            <a:off x="627529" y="573740"/>
            <a:ext cx="10382978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EFFICIENCY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big notation of the following expressions: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buFont typeface="+mj-lt"/>
              <a:buAutoNum type="alphaUcPeriod"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 + 5n</a:t>
            </a:r>
            <a:r>
              <a:rPr lang="en-MY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=&gt;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</a:t>
            </a:r>
            <a:r>
              <a:rPr lang="en-MY" sz="1800" baseline="300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8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MY" sz="1800" baseline="30000" dirty="0" smtClean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Font typeface="+mj-lt"/>
              <a:buAutoNum type="alphaUcPeriod"/>
            </a:pP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3n Log</a:t>
            </a:r>
            <a:r>
              <a:rPr lang="en-MY" sz="20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+ 5n - 10n + 5n =&gt;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O(nlog</a:t>
            </a:r>
            <a:r>
              <a:rPr lang="en-MY" sz="2000" baseline="-250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8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</a:p>
          <a:p>
            <a:pPr marL="342900" indent="-342900">
              <a:buFont typeface="+mj-lt"/>
              <a:buAutoNum type="alphaUcPeriod"/>
            </a:pP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+ log</a:t>
            </a:r>
            <a:r>
              <a:rPr lang="en-MY" sz="20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 + 2n + n</a:t>
            </a:r>
            <a:r>
              <a:rPr lang="en-MY" sz="1800" baseline="30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+ 2</a:t>
            </a:r>
            <a:r>
              <a:rPr lang="en-MY" sz="1800" baseline="30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=&gt;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O(2</a:t>
            </a:r>
            <a:r>
              <a:rPr lang="en-MY" sz="2000" baseline="300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MY" sz="20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MY" sz="2000" baseline="30000" dirty="0" smtClean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buFont typeface="+mj-lt"/>
              <a:buAutoNum type="alphaUcPeriod"/>
            </a:pP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+ 2 + 3 =&gt;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1n 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2n + 1n </a:t>
            </a: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lang="en-MY" sz="1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order of the above expression from the most simple to the complex one: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MY" sz="1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lang="en-MY" sz="1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71509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2">
            <a:extLst>
              <a:ext uri="{FF2B5EF4-FFF2-40B4-BE49-F238E27FC236}">
                <a16:creationId xmlns:a16="http://schemas.microsoft.com/office/drawing/2014/main" id="{97626E77-8047-7D88-539C-9FECBB44CA29}"/>
              </a:ext>
            </a:extLst>
          </p:cNvPr>
          <p:cNvSpPr txBox="1"/>
          <p:nvPr/>
        </p:nvSpPr>
        <p:spPr>
          <a:xfrm>
            <a:off x="627529" y="573740"/>
            <a:ext cx="10382978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EFFICIENCY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number of steps and determine the big-O notation of the following program: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B06F23-36D8-C29F-20B9-F83A1691C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251708"/>
              </p:ext>
            </p:extLst>
          </p:nvPr>
        </p:nvGraphicFramePr>
        <p:xfrm>
          <a:off x="627529" y="1626318"/>
          <a:ext cx="767989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6845">
                  <a:extLst>
                    <a:ext uri="{9D8B030D-6E8A-4147-A177-3AD203B41FA5}">
                      <a16:colId xmlns:a16="http://schemas.microsoft.com/office/drawing/2014/main" val="509966342"/>
                    </a:ext>
                  </a:extLst>
                </a:gridCol>
                <a:gridCol w="3463047">
                  <a:extLst>
                    <a:ext uri="{9D8B030D-6E8A-4147-A177-3AD203B41FA5}">
                      <a16:colId xmlns:a16="http://schemas.microsoft.com/office/drawing/2014/main" val="3129928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Number of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85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start = 0, stop = 10;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013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(int i = start; i &lt;= stop; i++)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n+1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8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cout &lt;&lt; "Hello\n";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1.(n+1) = n+1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4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332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1+n+1+n+1+0 = 2n+3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48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Big-O notation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O(n)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867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A8610FA1-BB35-2D80-6AA8-3CDC2E59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2">
            <a:extLst>
              <a:ext uri="{FF2B5EF4-FFF2-40B4-BE49-F238E27FC236}">
                <a16:creationId xmlns:a16="http://schemas.microsoft.com/office/drawing/2014/main" id="{71237637-395A-B198-3BF2-59168880A39D}"/>
              </a:ext>
            </a:extLst>
          </p:cNvPr>
          <p:cNvSpPr txBox="1"/>
          <p:nvPr/>
        </p:nvSpPr>
        <p:spPr>
          <a:xfrm>
            <a:off x="627529" y="573740"/>
            <a:ext cx="10382978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EFFICIENCY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number of steps and determine the big-O notation of the following program: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5F7811-CBF0-7694-F377-3640AD0BA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629444"/>
              </p:ext>
            </p:extLst>
          </p:nvPr>
        </p:nvGraphicFramePr>
        <p:xfrm>
          <a:off x="627529" y="1626314"/>
          <a:ext cx="4364349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17">
                  <a:extLst>
                    <a:ext uri="{9D8B030D-6E8A-4147-A177-3AD203B41FA5}">
                      <a16:colId xmlns:a16="http://schemas.microsoft.com/office/drawing/2014/main" val="509966342"/>
                    </a:ext>
                  </a:extLst>
                </a:gridCol>
                <a:gridCol w="2033932">
                  <a:extLst>
                    <a:ext uri="{9D8B030D-6E8A-4147-A177-3AD203B41FA5}">
                      <a16:colId xmlns:a16="http://schemas.microsoft.com/office/drawing/2014/main" val="3129928055"/>
                    </a:ext>
                  </a:extLst>
                </a:gridCol>
              </a:tblGrid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Number of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857976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i, j, n = 8;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013516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 = 1; i &lt; n; i++)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n-1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86042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j = 1;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1.(n-1) = n-1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640104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while (j &lt;= i)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(n-1)(1+n-1)/2 = n(n-1)/2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49375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j++;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1. n(n-1)/2</a:t>
                      </a:r>
                      <a:r>
                        <a:rPr lang="en-MY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n(n-1)/2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016663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cout &lt;&lt; i + j &lt;&lt; "\n";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1. n(n-1)/2</a:t>
                      </a:r>
                      <a:r>
                        <a:rPr lang="en-MY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n(n-1)/2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332107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080021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277225"/>
                  </a:ext>
                </a:extLst>
              </a:tr>
              <a:tr h="310079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1+2(n-1)+3(n(n-1)/2) </a:t>
                      </a:r>
                    </a:p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1+2n-2+3((n</a:t>
                      </a:r>
                      <a:r>
                        <a:rPr lang="en-MY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-n)/2)                   </a:t>
                      </a:r>
                    </a:p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2n-1+(3/2)n</a:t>
                      </a:r>
                      <a:r>
                        <a:rPr lang="en-MY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-(3/2)n</a:t>
                      </a:r>
                    </a:p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(3/2)n</a:t>
                      </a:r>
                      <a:r>
                        <a:rPr lang="en-MY" sz="1800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+(1/2)n-1     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48378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Big-O notation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O(n</a:t>
                      </a:r>
                      <a:r>
                        <a:rPr lang="en-MY" sz="1800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8677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5F7811-CBF0-7694-F377-3640AD0BA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378917"/>
              </p:ext>
            </p:extLst>
          </p:nvPr>
        </p:nvGraphicFramePr>
        <p:xfrm>
          <a:off x="5386139" y="2018199"/>
          <a:ext cx="6435747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6476">
                  <a:extLst>
                    <a:ext uri="{9D8B030D-6E8A-4147-A177-3AD203B41FA5}">
                      <a16:colId xmlns:a16="http://schemas.microsoft.com/office/drawing/2014/main" val="509966342"/>
                    </a:ext>
                  </a:extLst>
                </a:gridCol>
                <a:gridCol w="2999271">
                  <a:extLst>
                    <a:ext uri="{9D8B030D-6E8A-4147-A177-3AD203B41FA5}">
                      <a16:colId xmlns:a16="http://schemas.microsoft.com/office/drawing/2014/main" val="3129928055"/>
                    </a:ext>
                  </a:extLst>
                </a:gridCol>
              </a:tblGrid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Number of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857976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i, j, n = 8;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013516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 = 1; i &lt; n; i++)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n-1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86042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j = 1;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1.(n-1) = n-1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640104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while (j &lt;= i)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n(n+1)/2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49375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j++;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1. n(n+1)/2</a:t>
                      </a:r>
                      <a:r>
                        <a:rPr lang="en-MY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n(n+1)/2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016663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cout &lt;&lt; i + j &lt;&lt; "\n";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1. n(n+1)/2</a:t>
                      </a:r>
                      <a:r>
                        <a:rPr lang="en-MY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n(n+1)/2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332107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080021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277225"/>
                  </a:ext>
                </a:extLst>
              </a:tr>
              <a:tr h="310079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1+2(n-1)+3(n(n+1)/2) </a:t>
                      </a:r>
                    </a:p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1+2n-2+3((n</a:t>
                      </a:r>
                      <a:r>
                        <a:rPr lang="en-MY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+n)/2)                   </a:t>
                      </a:r>
                    </a:p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2n-1+(3/2)n</a:t>
                      </a:r>
                      <a:r>
                        <a:rPr lang="en-MY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+(3/2)n</a:t>
                      </a:r>
                    </a:p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= (3/2)n</a:t>
                      </a:r>
                      <a:r>
                        <a:rPr lang="en-MY" sz="1800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+(7/2)n-1     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48378"/>
                  </a:ext>
                </a:extLst>
              </a:tr>
              <a:tr h="129200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Big-O notation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O(n</a:t>
                      </a:r>
                      <a:r>
                        <a:rPr lang="en-MY" sz="1800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86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4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627529" y="573740"/>
            <a:ext cx="10382978" cy="578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SORT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Given that </a:t>
            </a: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 has been defined as follows: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int num = [ 2, 1, 4, 3, 5];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out the content of the </a:t>
            </a: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 after passes 1 and 2 if it was sorted by using bubble, selection, and insertion sort in ascending order.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For an array </a:t>
            </a: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[4, 3, 1, 2]</a:t>
            </a: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determine the type of sorting (ascending/descending) and the implemented algorithm (bubble/improved bubble/selection/insertion) for the following output: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Pass1: 4 3 2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Pass2: 4 3 2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Num. of comparisons: 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Num. of swaps: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r>
              <a:rPr lang="en-MY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MY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Descending, Improved Bubble Sort(</a:t>
            </a:r>
            <a:r>
              <a:rPr lang="en-MY" b="1" dirty="0" err="1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bcs</a:t>
            </a:r>
            <a:r>
              <a:rPr lang="en-MY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only 2 pass???)</a:t>
            </a:r>
            <a:endParaRPr lang="en-MY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F2D5CD-829F-A220-D6C6-54EB736E5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602976"/>
              </p:ext>
            </p:extLst>
          </p:nvPr>
        </p:nvGraphicFramePr>
        <p:xfrm>
          <a:off x="744260" y="2597987"/>
          <a:ext cx="895421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143">
                  <a:extLst>
                    <a:ext uri="{9D8B030D-6E8A-4147-A177-3AD203B41FA5}">
                      <a16:colId xmlns:a16="http://schemas.microsoft.com/office/drawing/2014/main" val="509966342"/>
                    </a:ext>
                  </a:extLst>
                </a:gridCol>
                <a:gridCol w="2123024">
                  <a:extLst>
                    <a:ext uri="{9D8B030D-6E8A-4147-A177-3AD203B41FA5}">
                      <a16:colId xmlns:a16="http://schemas.microsoft.com/office/drawing/2014/main" val="3129928055"/>
                    </a:ext>
                  </a:extLst>
                </a:gridCol>
                <a:gridCol w="2123024">
                  <a:extLst>
                    <a:ext uri="{9D8B030D-6E8A-4147-A177-3AD203B41FA5}">
                      <a16:colId xmlns:a16="http://schemas.microsoft.com/office/drawing/2014/main" val="1569843324"/>
                    </a:ext>
                  </a:extLst>
                </a:gridCol>
                <a:gridCol w="2123024">
                  <a:extLst>
                    <a:ext uri="{9D8B030D-6E8A-4147-A177-3AD203B41FA5}">
                      <a16:colId xmlns:a16="http://schemas.microsoft.com/office/drawing/2014/main" val="3029937251"/>
                    </a:ext>
                  </a:extLst>
                </a:gridCol>
              </a:tblGrid>
              <a:tr h="202791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Passes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Bubble Sort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Selection Sort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Insertion Sort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857976"/>
                  </a:ext>
                </a:extLst>
              </a:tr>
              <a:tr h="202791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After Pass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[ 1, 2, 3, 4, 5 ]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[ 2, 1, 4, 3, 5 ]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[ 1, 2, 4, 3, 5 ]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013516"/>
                  </a:ext>
                </a:extLst>
              </a:tr>
              <a:tr h="202791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After Pass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[ 1, 2, 3, 4, 5 ]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[ 2, 1, 3, 4, 5 ]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dirty="0" smtClean="0">
                          <a:solidFill>
                            <a:srgbClr val="FF0000"/>
                          </a:solidFill>
                        </a:rPr>
                        <a:t>[ 1, 2, 4, 3, 5 ]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860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D7A189C-56BB-EED1-2751-796CFC44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6C8467A4-CF8C-B3CF-5076-1DA7FE454568}"/>
              </a:ext>
            </a:extLst>
          </p:cNvPr>
          <p:cNvSpPr txBox="1"/>
          <p:nvPr/>
        </p:nvSpPr>
        <p:spPr>
          <a:xfrm>
            <a:off x="627529" y="573740"/>
            <a:ext cx="10382978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SORT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two halves of array to be merged in the last merge operation as follows: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the tracing of the value of first1, first2, value comparison, and the temporary array content until all items are fully copied and sorted into the temporary array: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0B0FB-C4B0-109C-7BF7-0E12DD0422D2}"/>
              </a:ext>
            </a:extLst>
          </p:cNvPr>
          <p:cNvSpPr txBox="1"/>
          <p:nvPr/>
        </p:nvSpPr>
        <p:spPr>
          <a:xfrm>
            <a:off x="1018095" y="160336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[1, 7, 9,]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256CEB-6F1B-AEDB-7F79-098A9C829CE0}"/>
              </a:ext>
            </a:extLst>
          </p:cNvPr>
          <p:cNvSpPr txBox="1"/>
          <p:nvPr/>
        </p:nvSpPr>
        <p:spPr>
          <a:xfrm>
            <a:off x="2951071" y="1603368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[2, 4, 6, 10]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F34061-2FEE-622B-FA2D-5FB7BEC6C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361585"/>
              </p:ext>
            </p:extLst>
          </p:nvPr>
        </p:nvGraphicFramePr>
        <p:xfrm>
          <a:off x="750075" y="2881477"/>
          <a:ext cx="8450485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118">
                  <a:extLst>
                    <a:ext uri="{9D8B030D-6E8A-4147-A177-3AD203B41FA5}">
                      <a16:colId xmlns:a16="http://schemas.microsoft.com/office/drawing/2014/main" val="509966342"/>
                    </a:ext>
                  </a:extLst>
                </a:gridCol>
                <a:gridCol w="827165">
                  <a:extLst>
                    <a:ext uri="{9D8B030D-6E8A-4147-A177-3AD203B41FA5}">
                      <a16:colId xmlns:a16="http://schemas.microsoft.com/office/drawing/2014/main" val="2507445189"/>
                    </a:ext>
                  </a:extLst>
                </a:gridCol>
                <a:gridCol w="1886520">
                  <a:extLst>
                    <a:ext uri="{9D8B030D-6E8A-4147-A177-3AD203B41FA5}">
                      <a16:colId xmlns:a16="http://schemas.microsoft.com/office/drawing/2014/main" val="3650811807"/>
                    </a:ext>
                  </a:extLst>
                </a:gridCol>
                <a:gridCol w="4741682">
                  <a:extLst>
                    <a:ext uri="{9D8B030D-6E8A-4147-A177-3AD203B41FA5}">
                      <a16:colId xmlns:a16="http://schemas.microsoft.com/office/drawing/2014/main" val="3129928055"/>
                    </a:ext>
                  </a:extLst>
                </a:gridCol>
              </a:tblGrid>
              <a:tr h="186249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first1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first2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value comparison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tempArray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857976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1 </a:t>
                      </a: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&lt;</a:t>
                      </a:r>
                      <a:r>
                        <a:rPr lang="en-MY" sz="1400" b="0" i="0" u="none" strike="noStrike" cap="none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 </a:t>
                      </a: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2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[1, null, null, null, null, null, null]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013516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2 &lt; 7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[1, 2, null, null, null, null, null]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86042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1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4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4 &lt; 7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[1, 2, 4, null, null, null, null]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640104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1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5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6 &lt; 7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[1, 2, 4, 6, null, null, null]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49375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1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6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7 &lt; 10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[1, 2, 4, 6, 7, null, null]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016663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2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6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9 &lt; 10</a:t>
                      </a:r>
                      <a:endParaRPr lang="en-MY" sz="1400" b="0" i="0" u="none" strike="noStrike" cap="none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400" b="0" i="0" u="none" strike="noStrike" cap="none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[1, 2, 4, 6, 7, 9, 10]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212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42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71DC357-17A3-0AFB-7CA5-25FDC26E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12F63F2F-172A-71F9-AB71-00919A3178B1}"/>
              </a:ext>
            </a:extLst>
          </p:cNvPr>
          <p:cNvSpPr txBox="1"/>
          <p:nvPr/>
        </p:nvSpPr>
        <p:spPr>
          <a:xfrm>
            <a:off x="627529" y="573740"/>
            <a:ext cx="10382978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SORT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 array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int list = [12, 6, 16, 4, 14, 2]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with pivot value is 12 (the first element), trace the position of the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bottom (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B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 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top (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index and list the content of the array after each 1</a:t>
            </a:r>
            <a:r>
              <a:rPr lang="en-MY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</a:t>
            </a:r>
            <a:r>
              <a:rPr lang="en-MY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3</a:t>
            </a:r>
            <a:r>
              <a:rPr lang="en-MY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swapping operation in the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partition(list, 0, 5)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of a quick sort algorithm (ascending order).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Initial position =&gt; [12, 6, 16, 4, 14, 2]</a:t>
            </a: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</a:t>
            </a:r>
            <a:r>
              <a:rPr lang="en-MY" sz="1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</a:t>
            </a:r>
            <a:r>
              <a:rPr lang="en-MY" sz="1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After 1</a:t>
            </a:r>
            <a:r>
              <a:rPr lang="en-MY" sz="1600" baseline="300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st</a:t>
            </a: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swap    =&gt;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[2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, 6, 16, 4, 14,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12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</a:t>
            </a:r>
            <a:endParaRPr lang="en-MY" sz="1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MY" sz="1600" dirty="0" smtClean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		     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MY" sz="16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</a:t>
            </a:r>
            <a:r>
              <a:rPr lang="en-MY" sz="1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After 2</a:t>
            </a:r>
            <a:r>
              <a:rPr lang="en-MY" sz="1600" baseline="300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nd</a:t>
            </a: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swap    =&gt;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2, 6,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12, 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4, 14,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16]</a:t>
            </a:r>
            <a:endParaRPr lang="en-MY" sz="1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		      </a:t>
            </a:r>
            <a:r>
              <a:rPr lang="en-MY" sz="16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MY" sz="16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MY" sz="16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MY" sz="1600" dirty="0">
              <a:solidFill>
                <a:schemeClr val="tx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</a:t>
            </a:r>
          </a:p>
          <a:p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After 3</a:t>
            </a:r>
            <a:r>
              <a:rPr lang="en-MY" sz="1600" baseline="300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rd</a:t>
            </a: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swap    =&gt; 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[2, 6,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4, 12, 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14, 16]</a:t>
            </a:r>
            <a:endParaRPr lang="en-MY" sz="1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		      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r>
              <a:rPr lang="en-MY" sz="160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MY" sz="160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n-MY" sz="1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MY" sz="1600" dirty="0">
              <a:solidFill>
                <a:schemeClr val="tx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</a:t>
            </a: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cut point returned by the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partition(list, 0, 5) 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and the next two calls of quick sort function: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quickSort(list, ?, ?)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cut point =&gt;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3</a:t>
            </a:r>
            <a:endParaRPr lang="en-MY" sz="1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partition(list,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</a:t>
            </a:r>
            <a:r>
              <a:rPr lang="en-MY" sz="1600" dirty="0" smtClean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,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3</a:t>
            </a:r>
            <a:r>
              <a:rPr lang="en-MY" sz="1600" dirty="0" smtClean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endParaRPr lang="en-MY" sz="1600" dirty="0">
              <a:solidFill>
                <a:schemeClr val="tx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partition(list,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4</a:t>
            </a:r>
            <a:r>
              <a:rPr lang="en-MY" sz="1600" dirty="0" smtClean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, </a:t>
            </a:r>
            <a:r>
              <a:rPr lang="en-MY" sz="16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5</a:t>
            </a:r>
            <a:r>
              <a:rPr lang="en-MY" sz="1600" dirty="0" smtClean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721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930</Words>
  <Application>Microsoft Office PowerPoint</Application>
  <PresentationFormat>Widescreen</PresentationFormat>
  <Paragraphs>199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SECJ2013 - DSA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SECJ2013 - DSA</dc:title>
  <dc:creator>MOHD RAZAK SAMINGAN</dc:creator>
  <cp:lastModifiedBy>Asus</cp:lastModifiedBy>
  <cp:revision>32</cp:revision>
  <dcterms:created xsi:type="dcterms:W3CDTF">2023-10-16T08:01:42Z</dcterms:created>
  <dcterms:modified xsi:type="dcterms:W3CDTF">2024-11-18T02:03:18Z</dcterms:modified>
</cp:coreProperties>
</file>