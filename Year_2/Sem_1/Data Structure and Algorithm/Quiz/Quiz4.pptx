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0" roundtripDataSignature="AMtx7mjT5RCwjIEkZA7pkLHJh+Gv3ki8+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53CA2C2-8860-432F-8B5F-C88FDD2FA05A}">
  <a:tblStyle styleId="{453CA2C2-8860-432F-8B5F-C88FDD2FA05A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tcBdr/>
        <a:fill>
          <a:solidFill>
            <a:srgbClr val="CDD4E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DD4EA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customschemas.google.com/relationships/presentationmetadata" Target="metadata"/><Relationship Id="rId4" Type="http://schemas.openxmlformats.org/officeDocument/2006/relationships/slide" Target="slides/slide3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9" name="Google Shape;8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0" name="Google Shape;11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4" name="Google Shape;134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5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5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8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2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3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>
            <a:spLocks noGrp="1"/>
          </p:cNvSpPr>
          <p:nvPr>
            <p:ph type="ctrTitle"/>
          </p:nvPr>
        </p:nvSpPr>
        <p:spPr>
          <a:xfrm>
            <a:off x="1524000" y="2339787"/>
            <a:ext cx="9144000" cy="1170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MY"/>
              <a:t>SECJ2013 - DSA</a:t>
            </a:r>
            <a:endParaRPr/>
          </a:p>
        </p:txBody>
      </p:sp>
      <p:sp>
        <p:nvSpPr>
          <p:cNvPr id="85" name="Google Shape;85;p1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MY" dirty="0"/>
              <a:t>2024/2025-1</a:t>
            </a:r>
            <a:endParaRPr dirty="0"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MY" dirty="0"/>
              <a:t>QUIZ 4</a:t>
            </a:r>
            <a:endParaRPr dirty="0"/>
          </a:p>
        </p:txBody>
      </p:sp>
      <p:sp>
        <p:nvSpPr>
          <p:cNvPr id="86" name="Google Shape;86;p1"/>
          <p:cNvSpPr txBox="1"/>
          <p:nvPr/>
        </p:nvSpPr>
        <p:spPr>
          <a:xfrm>
            <a:off x="555810" y="484093"/>
            <a:ext cx="6983507" cy="923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MY" sz="18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Group members: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MY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CHERYL CHEONG KAH VOON (A23CS0060)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MY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CHUA JIA LIN (A23CS0069)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"/>
          <p:cNvSpPr txBox="1"/>
          <p:nvPr/>
        </p:nvSpPr>
        <p:spPr>
          <a:xfrm>
            <a:off x="627529" y="573740"/>
            <a:ext cx="10382978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MY"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Queue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MY"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Given a structure of basic queue (</a:t>
            </a:r>
            <a:r>
              <a:rPr lang="en-MY" sz="14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myQueue</a:t>
            </a:r>
            <a:r>
              <a:rPr lang="en-MY"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implementation by using linear array as follows: </a:t>
            </a:r>
            <a:endParaRPr/>
          </a:p>
        </p:txBody>
      </p:sp>
      <p:graphicFrame>
        <p:nvGraphicFramePr>
          <p:cNvPr id="92" name="Google Shape;92;p3"/>
          <p:cNvGraphicFramePr/>
          <p:nvPr/>
        </p:nvGraphicFramePr>
        <p:xfrm>
          <a:off x="773444" y="2006199"/>
          <a:ext cx="3129000" cy="609620"/>
        </p:xfrm>
        <a:graphic>
          <a:graphicData uri="http://schemas.openxmlformats.org/drawingml/2006/table">
            <a:tbl>
              <a:tblPr firstRow="1" bandRow="1">
                <a:noFill/>
                <a:tableStyleId>{453CA2C2-8860-432F-8B5F-C88FDD2FA05A}</a:tableStyleId>
              </a:tblPr>
              <a:tblGrid>
                <a:gridCol w="62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2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25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5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400" u="none" strike="noStrike" cap="none"/>
                        <a:t>0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400" u="none" strike="noStrike" cap="none"/>
                        <a:t>1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400" u="none" strike="noStrike" cap="none"/>
                        <a:t>2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400" u="none" strike="noStrike" cap="none"/>
                        <a:t>3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400" u="none" strike="noStrike" cap="none"/>
                        <a:t>4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400" u="none" strike="noStrike" cap="none"/>
                        <a:t>50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400" u="none" strike="noStrike" cap="none"/>
                        <a:t>20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400" u="none" strike="noStrike" cap="none"/>
                        <a:t>30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MY" sz="1400" u="none" strike="noStrike" cap="none"/>
                        <a:t>24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3" name="Google Shape;93;p3"/>
          <p:cNvSpPr txBox="1"/>
          <p:nvPr/>
        </p:nvSpPr>
        <p:spPr>
          <a:xfrm>
            <a:off x="1448441" y="1418747"/>
            <a:ext cx="58221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4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front</a:t>
            </a:r>
            <a:endParaRPr/>
          </a:p>
        </p:txBody>
      </p:sp>
      <p:cxnSp>
        <p:nvCxnSpPr>
          <p:cNvPr id="94" name="Google Shape;94;p3"/>
          <p:cNvCxnSpPr>
            <a:stCxn id="93" idx="2"/>
          </p:cNvCxnSpPr>
          <p:nvPr/>
        </p:nvCxnSpPr>
        <p:spPr>
          <a:xfrm>
            <a:off x="1739547" y="1726524"/>
            <a:ext cx="0" cy="279600"/>
          </a:xfrm>
          <a:prstGeom prst="straightConnector1">
            <a:avLst/>
          </a:prstGeom>
          <a:noFill/>
          <a:ln w="15875" cap="flat" cmpd="sng">
            <a:solidFill>
              <a:srgbClr val="C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95" name="Google Shape;95;p3"/>
          <p:cNvSpPr txBox="1"/>
          <p:nvPr/>
        </p:nvSpPr>
        <p:spPr>
          <a:xfrm>
            <a:off x="2700066" y="1404696"/>
            <a:ext cx="58221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4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back</a:t>
            </a:r>
            <a:endParaRPr/>
          </a:p>
        </p:txBody>
      </p:sp>
      <p:cxnSp>
        <p:nvCxnSpPr>
          <p:cNvPr id="96" name="Google Shape;96;p3"/>
          <p:cNvCxnSpPr/>
          <p:nvPr/>
        </p:nvCxnSpPr>
        <p:spPr>
          <a:xfrm>
            <a:off x="2991172" y="1709688"/>
            <a:ext cx="0" cy="282460"/>
          </a:xfrm>
          <a:prstGeom prst="straightConnector1">
            <a:avLst/>
          </a:prstGeom>
          <a:noFill/>
          <a:ln w="15875" cap="flat" cmpd="sng">
            <a:solidFill>
              <a:srgbClr val="C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97" name="Google Shape;97;p3"/>
          <p:cNvSpPr txBox="1"/>
          <p:nvPr/>
        </p:nvSpPr>
        <p:spPr>
          <a:xfrm>
            <a:off x="627529" y="2838912"/>
            <a:ext cx="7310100" cy="35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How many items currently exist inside the queue?</a:t>
            </a:r>
            <a:r>
              <a:rPr lang="en-MY" sz="1600" u="sng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_4____</a:t>
            </a:r>
            <a:r>
              <a:rPr lang="en-MY" sz="1600" b="0" i="0" u="sng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Draw the queue structure after the following instructions were executed: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400" b="0" i="0" u="none" strike="noStrike" cap="none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myQueue.dequeue</a:t>
            </a:r>
            <a:r>
              <a:rPr lang="en-MY" sz="1400" b="0" i="0" u="none" strike="noStrike" cap="none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();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400" b="0" i="0" u="none" strike="noStrike" cap="none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myQueue.dequeue</a:t>
            </a:r>
            <a:r>
              <a:rPr lang="en-MY" sz="1400" b="0" i="0" u="none" strike="noStrike" cap="none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();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400" b="0" i="0" u="none" strike="noStrike" cap="none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myQueue.enqueue</a:t>
            </a:r>
            <a:r>
              <a:rPr lang="en-MY" sz="1400" b="0" i="0" u="none" strike="noStrike" cap="none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(60);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400" b="0" i="0" u="none" strike="noStrike" cap="none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myQueue.enqueue</a:t>
            </a:r>
            <a:r>
              <a:rPr lang="en-MY" sz="1400" b="0" i="0" u="none" strike="noStrike" cap="none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(47);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Based on the same instructions given in question 2 above, draw the queue structure if the circular-queue technique </a:t>
            </a:r>
            <a:r>
              <a:rPr lang="en-MY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</a:t>
            </a:r>
            <a:r>
              <a:rPr lang="en-MY" sz="1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implemented: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98" name="Google Shape;98;p3"/>
          <p:cNvGraphicFramePr/>
          <p:nvPr>
            <p:extLst>
              <p:ext uri="{D42A27DB-BD31-4B8C-83A1-F6EECF244321}">
                <p14:modId xmlns:p14="http://schemas.microsoft.com/office/powerpoint/2010/main" val="3148728778"/>
              </p:ext>
            </p:extLst>
          </p:nvPr>
        </p:nvGraphicFramePr>
        <p:xfrm>
          <a:off x="3814959" y="4215043"/>
          <a:ext cx="3129000" cy="609620"/>
        </p:xfrm>
        <a:graphic>
          <a:graphicData uri="http://schemas.openxmlformats.org/drawingml/2006/table">
            <a:tbl>
              <a:tblPr firstRow="1" bandRow="1">
                <a:noFill/>
                <a:tableStyleId>{453CA2C2-8860-432F-8B5F-C88FDD2FA05A}</a:tableStyleId>
              </a:tblPr>
              <a:tblGrid>
                <a:gridCol w="62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2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25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5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400" u="none" strike="noStrike" cap="none"/>
                        <a:t>0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400" u="none" strike="noStrike" cap="none"/>
                        <a:t>1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400" u="none" strike="noStrike" cap="none"/>
                        <a:t>2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400" u="none" strike="noStrike" cap="none"/>
                        <a:t>3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400" u="none" strike="noStrike" cap="none"/>
                        <a:t>4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400" u="none" strike="noStrike" cap="none"/>
                        <a:t>30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MY" sz="1400" u="none" strike="noStrike" cap="none"/>
                        <a:t>24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/>
                        <a:t>60</a:t>
                      </a:r>
                      <a:endParaRPr sz="1400" u="none" strike="noStrike" cap="none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9" name="Google Shape;99;p3"/>
          <p:cNvSpPr txBox="1"/>
          <p:nvPr/>
        </p:nvSpPr>
        <p:spPr>
          <a:xfrm>
            <a:off x="5088353" y="3647007"/>
            <a:ext cx="58221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400" b="0" i="1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front</a:t>
            </a:r>
            <a:endParaRPr dirty="0"/>
          </a:p>
        </p:txBody>
      </p:sp>
      <p:cxnSp>
        <p:nvCxnSpPr>
          <p:cNvPr id="100" name="Google Shape;100;p3"/>
          <p:cNvCxnSpPr>
            <a:stCxn id="99" idx="2"/>
          </p:cNvCxnSpPr>
          <p:nvPr/>
        </p:nvCxnSpPr>
        <p:spPr>
          <a:xfrm>
            <a:off x="5379459" y="3954784"/>
            <a:ext cx="0" cy="279600"/>
          </a:xfrm>
          <a:prstGeom prst="straightConnector1">
            <a:avLst/>
          </a:prstGeom>
          <a:noFill/>
          <a:ln w="15875" cap="flat" cmpd="sng">
            <a:solidFill>
              <a:srgbClr val="C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01" name="Google Shape;101;p3"/>
          <p:cNvSpPr txBox="1"/>
          <p:nvPr/>
        </p:nvSpPr>
        <p:spPr>
          <a:xfrm>
            <a:off x="6299487" y="3612499"/>
            <a:ext cx="58221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400" b="0" i="1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back</a:t>
            </a:r>
            <a:endParaRPr dirty="0"/>
          </a:p>
        </p:txBody>
      </p:sp>
      <p:cxnSp>
        <p:nvCxnSpPr>
          <p:cNvPr id="102" name="Google Shape;102;p3"/>
          <p:cNvCxnSpPr/>
          <p:nvPr/>
        </p:nvCxnSpPr>
        <p:spPr>
          <a:xfrm>
            <a:off x="6590592" y="3920276"/>
            <a:ext cx="0" cy="282460"/>
          </a:xfrm>
          <a:prstGeom prst="straightConnector1">
            <a:avLst/>
          </a:prstGeom>
          <a:noFill/>
          <a:ln w="15875" cap="flat" cmpd="sng">
            <a:solidFill>
              <a:srgbClr val="C00000"/>
            </a:solidFill>
            <a:prstDash val="solid"/>
            <a:round/>
            <a:headEnd type="none" w="sm" len="sm"/>
            <a:tailEnd type="triangle" w="med" len="med"/>
          </a:ln>
        </p:spPr>
      </p:cxnSp>
      <p:graphicFrame>
        <p:nvGraphicFramePr>
          <p:cNvPr id="103" name="Google Shape;103;p3"/>
          <p:cNvGraphicFramePr/>
          <p:nvPr>
            <p:extLst>
              <p:ext uri="{D42A27DB-BD31-4B8C-83A1-F6EECF244321}">
                <p14:modId xmlns:p14="http://schemas.microsoft.com/office/powerpoint/2010/main" val="3179432526"/>
              </p:ext>
            </p:extLst>
          </p:nvPr>
        </p:nvGraphicFramePr>
        <p:xfrm>
          <a:off x="4420542" y="6160882"/>
          <a:ext cx="3129000" cy="609620"/>
        </p:xfrm>
        <a:graphic>
          <a:graphicData uri="http://schemas.openxmlformats.org/drawingml/2006/table">
            <a:tbl>
              <a:tblPr firstRow="1" bandRow="1">
                <a:noFill/>
                <a:tableStyleId>{453CA2C2-8860-432F-8B5F-C88FDD2FA05A}</a:tableStyleId>
              </a:tblPr>
              <a:tblGrid>
                <a:gridCol w="62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2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25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5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400" u="none" strike="noStrike" cap="none"/>
                        <a:t>0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400" u="none" strike="noStrike" cap="none"/>
                        <a:t>1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400" u="none" strike="noStrike" cap="none"/>
                        <a:t>2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400" u="none" strike="noStrike" cap="none"/>
                        <a:t>3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400" u="none" strike="noStrike" cap="none"/>
                        <a:t>4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400" u="none" strike="noStrike" cap="none" dirty="0"/>
                        <a:t>47</a:t>
                      </a:r>
                      <a:endParaRPr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400" u="none" strike="noStrike" cap="none"/>
                        <a:t>30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MY" sz="1400" u="none" strike="noStrike" cap="none"/>
                        <a:t>24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/>
                        <a:t>60</a:t>
                      </a:r>
                      <a:endParaRPr sz="1400" u="none" strike="noStrike" cap="none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4" name="Google Shape;104;p3"/>
          <p:cNvSpPr txBox="1"/>
          <p:nvPr/>
        </p:nvSpPr>
        <p:spPr>
          <a:xfrm>
            <a:off x="5670564" y="5559379"/>
            <a:ext cx="58221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400" b="0" i="1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front</a:t>
            </a:r>
            <a:endParaRPr dirty="0"/>
          </a:p>
        </p:txBody>
      </p:sp>
      <p:cxnSp>
        <p:nvCxnSpPr>
          <p:cNvPr id="105" name="Google Shape;105;p3"/>
          <p:cNvCxnSpPr>
            <a:cxnSpLocks/>
            <a:stCxn id="104" idx="2"/>
          </p:cNvCxnSpPr>
          <p:nvPr/>
        </p:nvCxnSpPr>
        <p:spPr>
          <a:xfrm>
            <a:off x="5961670" y="5867156"/>
            <a:ext cx="0" cy="279600"/>
          </a:xfrm>
          <a:prstGeom prst="straightConnector1">
            <a:avLst/>
          </a:prstGeom>
          <a:noFill/>
          <a:ln w="15875" cap="flat" cmpd="sng">
            <a:solidFill>
              <a:srgbClr val="C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06" name="Google Shape;106;p3"/>
          <p:cNvSpPr txBox="1"/>
          <p:nvPr/>
        </p:nvSpPr>
        <p:spPr>
          <a:xfrm>
            <a:off x="4417319" y="5587670"/>
            <a:ext cx="58221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400" b="0" i="1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back</a:t>
            </a:r>
            <a:endParaRPr dirty="0"/>
          </a:p>
        </p:txBody>
      </p:sp>
      <p:cxnSp>
        <p:nvCxnSpPr>
          <p:cNvPr id="107" name="Google Shape;107;p3"/>
          <p:cNvCxnSpPr/>
          <p:nvPr/>
        </p:nvCxnSpPr>
        <p:spPr>
          <a:xfrm>
            <a:off x="4692149" y="5864296"/>
            <a:ext cx="0" cy="282460"/>
          </a:xfrm>
          <a:prstGeom prst="straightConnector1">
            <a:avLst/>
          </a:prstGeom>
          <a:noFill/>
          <a:ln w="15875" cap="flat" cmpd="sng">
            <a:solidFill>
              <a:srgbClr val="C00000"/>
            </a:solidFill>
            <a:prstDash val="solid"/>
            <a:round/>
            <a:headEnd type="none" w="sm" len="sm"/>
            <a:tailEnd type="triangle" w="med" len="med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"/>
          <p:cNvSpPr txBox="1"/>
          <p:nvPr/>
        </p:nvSpPr>
        <p:spPr>
          <a:xfrm>
            <a:off x="627529" y="573740"/>
            <a:ext cx="10382978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MY"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Tree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MY"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Given a binary tree structure as follows: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2"/>
          <p:cNvSpPr txBox="1"/>
          <p:nvPr/>
        </p:nvSpPr>
        <p:spPr>
          <a:xfrm>
            <a:off x="1387558" y="1539587"/>
            <a:ext cx="351378" cy="369332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/>
          </a:p>
        </p:txBody>
      </p:sp>
      <p:sp>
        <p:nvSpPr>
          <p:cNvPr id="114" name="Google Shape;114;p2"/>
          <p:cNvSpPr txBox="1"/>
          <p:nvPr/>
        </p:nvSpPr>
        <p:spPr>
          <a:xfrm>
            <a:off x="797212" y="2460314"/>
            <a:ext cx="351378" cy="369332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 dirty="0"/>
          </a:p>
        </p:txBody>
      </p:sp>
      <p:sp>
        <p:nvSpPr>
          <p:cNvPr id="115" name="Google Shape;115;p2"/>
          <p:cNvSpPr txBox="1"/>
          <p:nvPr/>
        </p:nvSpPr>
        <p:spPr>
          <a:xfrm>
            <a:off x="1957753" y="2460314"/>
            <a:ext cx="351378" cy="369332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endParaRPr/>
          </a:p>
        </p:txBody>
      </p:sp>
      <p:sp>
        <p:nvSpPr>
          <p:cNvPr id="116" name="Google Shape;116;p2"/>
          <p:cNvSpPr txBox="1"/>
          <p:nvPr/>
        </p:nvSpPr>
        <p:spPr>
          <a:xfrm>
            <a:off x="1553483" y="3332844"/>
            <a:ext cx="338554" cy="369332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</a:t>
            </a:r>
            <a:endParaRPr/>
          </a:p>
        </p:txBody>
      </p:sp>
      <p:sp>
        <p:nvSpPr>
          <p:cNvPr id="117" name="Google Shape;117;p2"/>
          <p:cNvSpPr txBox="1"/>
          <p:nvPr/>
        </p:nvSpPr>
        <p:spPr>
          <a:xfrm>
            <a:off x="2446138" y="3346750"/>
            <a:ext cx="338554" cy="369332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/>
          </a:p>
        </p:txBody>
      </p:sp>
      <p:cxnSp>
        <p:nvCxnSpPr>
          <p:cNvPr id="118" name="Google Shape;118;p2"/>
          <p:cNvCxnSpPr>
            <a:stCxn id="113" idx="2"/>
            <a:endCxn id="115" idx="0"/>
          </p:cNvCxnSpPr>
          <p:nvPr/>
        </p:nvCxnSpPr>
        <p:spPr>
          <a:xfrm>
            <a:off x="1563247" y="1908919"/>
            <a:ext cx="570300" cy="5514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19" name="Google Shape;119;p2"/>
          <p:cNvCxnSpPr>
            <a:stCxn id="115" idx="2"/>
            <a:endCxn id="116" idx="0"/>
          </p:cNvCxnSpPr>
          <p:nvPr/>
        </p:nvCxnSpPr>
        <p:spPr>
          <a:xfrm flipH="1">
            <a:off x="1722742" y="2829646"/>
            <a:ext cx="410700" cy="5031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20" name="Google Shape;120;p2"/>
          <p:cNvCxnSpPr>
            <a:stCxn id="115" idx="2"/>
            <a:endCxn id="117" idx="0"/>
          </p:cNvCxnSpPr>
          <p:nvPr/>
        </p:nvCxnSpPr>
        <p:spPr>
          <a:xfrm>
            <a:off x="2133442" y="2829646"/>
            <a:ext cx="482100" cy="5172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21" name="Google Shape;121;p2"/>
          <p:cNvCxnSpPr>
            <a:stCxn id="113" idx="2"/>
            <a:endCxn id="114" idx="0"/>
          </p:cNvCxnSpPr>
          <p:nvPr/>
        </p:nvCxnSpPr>
        <p:spPr>
          <a:xfrm flipH="1">
            <a:off x="972847" y="1908919"/>
            <a:ext cx="590400" cy="5514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22" name="Google Shape;122;p2"/>
          <p:cNvSpPr txBox="1"/>
          <p:nvPr/>
        </p:nvSpPr>
        <p:spPr>
          <a:xfrm>
            <a:off x="4774922" y="1459419"/>
            <a:ext cx="7310241" cy="2554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Trace the output for pre-order, in-order, and post-order traversals 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Pre-order: </a:t>
            </a:r>
            <a:r>
              <a:rPr lang="en-MY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DCUKX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In-order: </a:t>
            </a:r>
            <a:r>
              <a:rPr lang="en-MY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CDKUX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Post-order: </a:t>
            </a:r>
            <a:r>
              <a:rPr lang="en-MY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CKXUD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Draw the new structure of the tree after new nodes/items (‘A’ and ‘M’) are added into the tree: 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2"/>
          <p:cNvSpPr txBox="1"/>
          <p:nvPr/>
        </p:nvSpPr>
        <p:spPr>
          <a:xfrm>
            <a:off x="6916373" y="3332844"/>
            <a:ext cx="351378" cy="369332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/>
          </a:p>
        </p:txBody>
      </p:sp>
      <p:sp>
        <p:nvSpPr>
          <p:cNvPr id="124" name="Google Shape;124;p2"/>
          <p:cNvSpPr txBox="1"/>
          <p:nvPr/>
        </p:nvSpPr>
        <p:spPr>
          <a:xfrm>
            <a:off x="6326027" y="4253571"/>
            <a:ext cx="351378" cy="369332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/>
          </a:p>
        </p:txBody>
      </p:sp>
      <p:sp>
        <p:nvSpPr>
          <p:cNvPr id="125" name="Google Shape;125;p2"/>
          <p:cNvSpPr txBox="1"/>
          <p:nvPr/>
        </p:nvSpPr>
        <p:spPr>
          <a:xfrm>
            <a:off x="7486568" y="4253571"/>
            <a:ext cx="351378" cy="369332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endParaRPr/>
          </a:p>
        </p:txBody>
      </p:sp>
      <p:sp>
        <p:nvSpPr>
          <p:cNvPr id="126" name="Google Shape;126;p2"/>
          <p:cNvSpPr txBox="1"/>
          <p:nvPr/>
        </p:nvSpPr>
        <p:spPr>
          <a:xfrm>
            <a:off x="7082298" y="5126101"/>
            <a:ext cx="338554" cy="369332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</a:t>
            </a:r>
            <a:endParaRPr/>
          </a:p>
        </p:txBody>
      </p:sp>
      <p:sp>
        <p:nvSpPr>
          <p:cNvPr id="127" name="Google Shape;127;p2"/>
          <p:cNvSpPr txBox="1"/>
          <p:nvPr/>
        </p:nvSpPr>
        <p:spPr>
          <a:xfrm>
            <a:off x="7974953" y="5140007"/>
            <a:ext cx="338554" cy="369332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/>
          </a:p>
        </p:txBody>
      </p:sp>
      <p:cxnSp>
        <p:nvCxnSpPr>
          <p:cNvPr id="128" name="Google Shape;128;p2"/>
          <p:cNvCxnSpPr>
            <a:stCxn id="123" idx="2"/>
            <a:endCxn id="125" idx="0"/>
          </p:cNvCxnSpPr>
          <p:nvPr/>
        </p:nvCxnSpPr>
        <p:spPr>
          <a:xfrm>
            <a:off x="7092062" y="3702176"/>
            <a:ext cx="570300" cy="5514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29" name="Google Shape;129;p2"/>
          <p:cNvCxnSpPr>
            <a:stCxn id="125" idx="2"/>
            <a:endCxn id="126" idx="0"/>
          </p:cNvCxnSpPr>
          <p:nvPr/>
        </p:nvCxnSpPr>
        <p:spPr>
          <a:xfrm flipH="1">
            <a:off x="7251557" y="4622903"/>
            <a:ext cx="410700" cy="5031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30" name="Google Shape;130;p2"/>
          <p:cNvCxnSpPr>
            <a:stCxn id="125" idx="2"/>
            <a:endCxn id="127" idx="0"/>
          </p:cNvCxnSpPr>
          <p:nvPr/>
        </p:nvCxnSpPr>
        <p:spPr>
          <a:xfrm>
            <a:off x="7662257" y="4622903"/>
            <a:ext cx="482100" cy="5172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31" name="Google Shape;131;p2"/>
          <p:cNvCxnSpPr>
            <a:stCxn id="123" idx="2"/>
            <a:endCxn id="124" idx="0"/>
          </p:cNvCxnSpPr>
          <p:nvPr/>
        </p:nvCxnSpPr>
        <p:spPr>
          <a:xfrm flipH="1">
            <a:off x="6501662" y="3702176"/>
            <a:ext cx="590400" cy="5514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" name="Google Shape;114;p2">
            <a:extLst>
              <a:ext uri="{FF2B5EF4-FFF2-40B4-BE49-F238E27FC236}">
                <a16:creationId xmlns:a16="http://schemas.microsoft.com/office/drawing/2014/main" id="{8554408D-8F9C-94B1-E0B4-7F95D1C6FA05}"/>
              </a:ext>
            </a:extLst>
          </p:cNvPr>
          <p:cNvSpPr txBox="1"/>
          <p:nvPr/>
        </p:nvSpPr>
        <p:spPr>
          <a:xfrm>
            <a:off x="5920311" y="5126003"/>
            <a:ext cx="351378" cy="369291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800" dirty="0"/>
              <a:t>A</a:t>
            </a:r>
            <a:endParaRPr dirty="0"/>
          </a:p>
        </p:txBody>
      </p:sp>
      <p:cxnSp>
        <p:nvCxnSpPr>
          <p:cNvPr id="3" name="Google Shape;129;p2">
            <a:extLst>
              <a:ext uri="{FF2B5EF4-FFF2-40B4-BE49-F238E27FC236}">
                <a16:creationId xmlns:a16="http://schemas.microsoft.com/office/drawing/2014/main" id="{D998FDAC-5353-1FEF-FF00-3D062925B7BA}"/>
              </a:ext>
            </a:extLst>
          </p:cNvPr>
          <p:cNvCxnSpPr/>
          <p:nvPr/>
        </p:nvCxnSpPr>
        <p:spPr>
          <a:xfrm flipH="1">
            <a:off x="6096000" y="4610960"/>
            <a:ext cx="410700" cy="5031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4" name="Google Shape;114;p2">
            <a:extLst>
              <a:ext uri="{FF2B5EF4-FFF2-40B4-BE49-F238E27FC236}">
                <a16:creationId xmlns:a16="http://schemas.microsoft.com/office/drawing/2014/main" id="{4A2C908F-07ED-3761-10DA-48AA9C018105}"/>
              </a:ext>
            </a:extLst>
          </p:cNvPr>
          <p:cNvSpPr txBox="1"/>
          <p:nvPr/>
        </p:nvSpPr>
        <p:spPr>
          <a:xfrm>
            <a:off x="7617290" y="6002692"/>
            <a:ext cx="351378" cy="369291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800" dirty="0"/>
              <a:t>M</a:t>
            </a:r>
            <a:endParaRPr dirty="0"/>
          </a:p>
        </p:txBody>
      </p:sp>
      <p:cxnSp>
        <p:nvCxnSpPr>
          <p:cNvPr id="6" name="Google Shape;130;p2">
            <a:extLst>
              <a:ext uri="{FF2B5EF4-FFF2-40B4-BE49-F238E27FC236}">
                <a16:creationId xmlns:a16="http://schemas.microsoft.com/office/drawing/2014/main" id="{95B37C8C-0BB0-FFF5-4C8F-28251B9D1CEF}"/>
              </a:ext>
            </a:extLst>
          </p:cNvPr>
          <p:cNvCxnSpPr/>
          <p:nvPr/>
        </p:nvCxnSpPr>
        <p:spPr>
          <a:xfrm>
            <a:off x="7310879" y="5490442"/>
            <a:ext cx="482100" cy="5172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6"/>
          <p:cNvSpPr txBox="1"/>
          <p:nvPr/>
        </p:nvSpPr>
        <p:spPr>
          <a:xfrm>
            <a:off x="627529" y="573740"/>
            <a:ext cx="3671094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MY"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Tree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MY"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Given a binary tree structure as follows: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16"/>
          <p:cNvSpPr txBox="1"/>
          <p:nvPr/>
        </p:nvSpPr>
        <p:spPr>
          <a:xfrm>
            <a:off x="1387558" y="1539587"/>
            <a:ext cx="354584" cy="276999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40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1129061" y="2126206"/>
            <a:ext cx="354584" cy="276999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1660937" y="2126206"/>
            <a:ext cx="354584" cy="276999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60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1444186" y="2667327"/>
            <a:ext cx="354584" cy="276999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50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1917147" y="2667327"/>
            <a:ext cx="354584" cy="276999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90</a:t>
            </a:r>
            <a:endParaRPr/>
          </a:p>
        </p:txBody>
      </p:sp>
      <p:cxnSp>
        <p:nvCxnSpPr>
          <p:cNvPr id="142" name="Google Shape;142;p16"/>
          <p:cNvCxnSpPr>
            <a:stCxn id="137" idx="2"/>
            <a:endCxn id="139" idx="0"/>
          </p:cNvCxnSpPr>
          <p:nvPr/>
        </p:nvCxnSpPr>
        <p:spPr>
          <a:xfrm>
            <a:off x="1564850" y="1816586"/>
            <a:ext cx="273300" cy="3096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43" name="Google Shape;143;p16"/>
          <p:cNvCxnSpPr>
            <a:stCxn id="139" idx="2"/>
            <a:endCxn id="140" idx="0"/>
          </p:cNvCxnSpPr>
          <p:nvPr/>
        </p:nvCxnSpPr>
        <p:spPr>
          <a:xfrm flipH="1">
            <a:off x="1621329" y="2403205"/>
            <a:ext cx="216900" cy="2640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44" name="Google Shape;144;p16"/>
          <p:cNvCxnSpPr>
            <a:stCxn id="139" idx="2"/>
            <a:endCxn id="141" idx="0"/>
          </p:cNvCxnSpPr>
          <p:nvPr/>
        </p:nvCxnSpPr>
        <p:spPr>
          <a:xfrm>
            <a:off x="1838229" y="2403205"/>
            <a:ext cx="256200" cy="2640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45" name="Google Shape;145;p16"/>
          <p:cNvCxnSpPr>
            <a:stCxn id="137" idx="2"/>
            <a:endCxn id="138" idx="0"/>
          </p:cNvCxnSpPr>
          <p:nvPr/>
        </p:nvCxnSpPr>
        <p:spPr>
          <a:xfrm flipH="1">
            <a:off x="1306250" y="1816586"/>
            <a:ext cx="258600" cy="3096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46" name="Google Shape;146;p16"/>
          <p:cNvSpPr txBox="1"/>
          <p:nvPr/>
        </p:nvSpPr>
        <p:spPr>
          <a:xfrm>
            <a:off x="4652373" y="399366"/>
            <a:ext cx="7310241" cy="50167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each question below, assume that the tree structure is always in its original form,  as shown on the left side of  this slide page.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Tree structure after node 50 is deleted: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Tree structure after node 60 is deleted: 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Tree structure after node 40 is deleted: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16"/>
          <p:cNvSpPr txBox="1"/>
          <p:nvPr/>
        </p:nvSpPr>
        <p:spPr>
          <a:xfrm>
            <a:off x="8579923" y="1254339"/>
            <a:ext cx="354584" cy="276999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40</a:t>
            </a:r>
            <a:endParaRPr/>
          </a:p>
        </p:txBody>
      </p:sp>
      <p:sp>
        <p:nvSpPr>
          <p:cNvPr id="148" name="Google Shape;148;p16"/>
          <p:cNvSpPr txBox="1"/>
          <p:nvPr/>
        </p:nvSpPr>
        <p:spPr>
          <a:xfrm>
            <a:off x="8321426" y="1840958"/>
            <a:ext cx="354584" cy="276999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/>
          </a:p>
        </p:txBody>
      </p:sp>
      <p:sp>
        <p:nvSpPr>
          <p:cNvPr id="149" name="Google Shape;149;p16"/>
          <p:cNvSpPr txBox="1"/>
          <p:nvPr/>
        </p:nvSpPr>
        <p:spPr>
          <a:xfrm>
            <a:off x="8853302" y="1840958"/>
            <a:ext cx="354584" cy="276999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60</a:t>
            </a:r>
            <a:endParaRPr/>
          </a:p>
        </p:txBody>
      </p:sp>
      <p:sp>
        <p:nvSpPr>
          <p:cNvPr id="151" name="Google Shape;151;p16"/>
          <p:cNvSpPr txBox="1"/>
          <p:nvPr/>
        </p:nvSpPr>
        <p:spPr>
          <a:xfrm>
            <a:off x="9109512" y="2382079"/>
            <a:ext cx="354584" cy="276999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90</a:t>
            </a:r>
            <a:endParaRPr/>
          </a:p>
        </p:txBody>
      </p:sp>
      <p:cxnSp>
        <p:nvCxnSpPr>
          <p:cNvPr id="152" name="Google Shape;152;p16"/>
          <p:cNvCxnSpPr>
            <a:stCxn id="147" idx="2"/>
            <a:endCxn id="149" idx="0"/>
          </p:cNvCxnSpPr>
          <p:nvPr/>
        </p:nvCxnSpPr>
        <p:spPr>
          <a:xfrm>
            <a:off x="8757215" y="1531338"/>
            <a:ext cx="273300" cy="3096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54" name="Google Shape;154;p16"/>
          <p:cNvCxnSpPr>
            <a:stCxn id="149" idx="2"/>
            <a:endCxn id="151" idx="0"/>
          </p:cNvCxnSpPr>
          <p:nvPr/>
        </p:nvCxnSpPr>
        <p:spPr>
          <a:xfrm>
            <a:off x="9030594" y="2117957"/>
            <a:ext cx="256200" cy="2640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55" name="Google Shape;155;p16"/>
          <p:cNvCxnSpPr>
            <a:stCxn id="147" idx="2"/>
            <a:endCxn id="148" idx="0"/>
          </p:cNvCxnSpPr>
          <p:nvPr/>
        </p:nvCxnSpPr>
        <p:spPr>
          <a:xfrm flipH="1">
            <a:off x="8498615" y="1531338"/>
            <a:ext cx="258600" cy="3096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56" name="Google Shape;156;p16"/>
          <p:cNvSpPr txBox="1"/>
          <p:nvPr/>
        </p:nvSpPr>
        <p:spPr>
          <a:xfrm>
            <a:off x="8579923" y="2918818"/>
            <a:ext cx="354584" cy="276999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40</a:t>
            </a:r>
            <a:endParaRPr/>
          </a:p>
        </p:txBody>
      </p:sp>
      <p:sp>
        <p:nvSpPr>
          <p:cNvPr id="157" name="Google Shape;157;p16"/>
          <p:cNvSpPr txBox="1"/>
          <p:nvPr/>
        </p:nvSpPr>
        <p:spPr>
          <a:xfrm>
            <a:off x="8321426" y="3505437"/>
            <a:ext cx="354584" cy="276999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/>
          </a:p>
        </p:txBody>
      </p:sp>
      <p:sp>
        <p:nvSpPr>
          <p:cNvPr id="158" name="Google Shape;158;p16"/>
          <p:cNvSpPr txBox="1"/>
          <p:nvPr/>
        </p:nvSpPr>
        <p:spPr>
          <a:xfrm>
            <a:off x="8853302" y="3505437"/>
            <a:ext cx="354584" cy="276999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200" dirty="0"/>
              <a:t>5</a:t>
            </a:r>
            <a:r>
              <a:rPr lang="en-MY" sz="1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dirty="0"/>
          </a:p>
        </p:txBody>
      </p:sp>
      <p:sp>
        <p:nvSpPr>
          <p:cNvPr id="160" name="Google Shape;160;p16"/>
          <p:cNvSpPr txBox="1"/>
          <p:nvPr/>
        </p:nvSpPr>
        <p:spPr>
          <a:xfrm>
            <a:off x="9109512" y="4046558"/>
            <a:ext cx="354584" cy="276999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90</a:t>
            </a:r>
            <a:endParaRPr/>
          </a:p>
        </p:txBody>
      </p:sp>
      <p:cxnSp>
        <p:nvCxnSpPr>
          <p:cNvPr id="161" name="Google Shape;161;p16"/>
          <p:cNvCxnSpPr>
            <a:stCxn id="156" idx="2"/>
            <a:endCxn id="158" idx="0"/>
          </p:cNvCxnSpPr>
          <p:nvPr/>
        </p:nvCxnSpPr>
        <p:spPr>
          <a:xfrm>
            <a:off x="8757215" y="3195817"/>
            <a:ext cx="273300" cy="3096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63" name="Google Shape;163;p16"/>
          <p:cNvCxnSpPr>
            <a:stCxn id="158" idx="2"/>
            <a:endCxn id="160" idx="0"/>
          </p:cNvCxnSpPr>
          <p:nvPr/>
        </p:nvCxnSpPr>
        <p:spPr>
          <a:xfrm>
            <a:off x="9030594" y="3782436"/>
            <a:ext cx="256200" cy="2640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64" name="Google Shape;164;p16"/>
          <p:cNvCxnSpPr>
            <a:stCxn id="156" idx="2"/>
            <a:endCxn id="157" idx="0"/>
          </p:cNvCxnSpPr>
          <p:nvPr/>
        </p:nvCxnSpPr>
        <p:spPr>
          <a:xfrm flipH="1">
            <a:off x="8498615" y="3195817"/>
            <a:ext cx="258600" cy="3096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65" name="Google Shape;165;p16"/>
          <p:cNvSpPr txBox="1"/>
          <p:nvPr/>
        </p:nvSpPr>
        <p:spPr>
          <a:xfrm>
            <a:off x="8579923" y="4620137"/>
            <a:ext cx="354584" cy="276999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50</a:t>
            </a:r>
            <a:endParaRPr dirty="0"/>
          </a:p>
        </p:txBody>
      </p:sp>
      <p:sp>
        <p:nvSpPr>
          <p:cNvPr id="166" name="Google Shape;166;p16"/>
          <p:cNvSpPr txBox="1"/>
          <p:nvPr/>
        </p:nvSpPr>
        <p:spPr>
          <a:xfrm>
            <a:off x="8321426" y="5206756"/>
            <a:ext cx="354584" cy="276999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/>
          </a:p>
        </p:txBody>
      </p:sp>
      <p:sp>
        <p:nvSpPr>
          <p:cNvPr id="167" name="Google Shape;167;p16"/>
          <p:cNvSpPr txBox="1"/>
          <p:nvPr/>
        </p:nvSpPr>
        <p:spPr>
          <a:xfrm>
            <a:off x="8853302" y="5206756"/>
            <a:ext cx="354584" cy="276999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60</a:t>
            </a:r>
            <a:endParaRPr/>
          </a:p>
        </p:txBody>
      </p:sp>
      <p:sp>
        <p:nvSpPr>
          <p:cNvPr id="169" name="Google Shape;169;p16"/>
          <p:cNvSpPr txBox="1"/>
          <p:nvPr/>
        </p:nvSpPr>
        <p:spPr>
          <a:xfrm>
            <a:off x="9109512" y="5747877"/>
            <a:ext cx="354584" cy="276999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90</a:t>
            </a:r>
            <a:endParaRPr/>
          </a:p>
        </p:txBody>
      </p:sp>
      <p:cxnSp>
        <p:nvCxnSpPr>
          <p:cNvPr id="170" name="Google Shape;170;p16"/>
          <p:cNvCxnSpPr>
            <a:stCxn id="165" idx="2"/>
            <a:endCxn id="167" idx="0"/>
          </p:cNvCxnSpPr>
          <p:nvPr/>
        </p:nvCxnSpPr>
        <p:spPr>
          <a:xfrm>
            <a:off x="8757215" y="4897136"/>
            <a:ext cx="273300" cy="3096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72" name="Google Shape;172;p16"/>
          <p:cNvCxnSpPr>
            <a:stCxn id="167" idx="2"/>
            <a:endCxn id="169" idx="0"/>
          </p:cNvCxnSpPr>
          <p:nvPr/>
        </p:nvCxnSpPr>
        <p:spPr>
          <a:xfrm>
            <a:off x="9030594" y="5483755"/>
            <a:ext cx="256200" cy="2640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73" name="Google Shape;173;p16"/>
          <p:cNvCxnSpPr>
            <a:stCxn id="165" idx="2"/>
            <a:endCxn id="166" idx="0"/>
          </p:cNvCxnSpPr>
          <p:nvPr/>
        </p:nvCxnSpPr>
        <p:spPr>
          <a:xfrm flipH="1">
            <a:off x="8498615" y="4897136"/>
            <a:ext cx="258600" cy="3096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297</Words>
  <Application>Microsoft Office PowerPoint</Application>
  <PresentationFormat>Widescreen</PresentationFormat>
  <Paragraphs>112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Courier New</vt:lpstr>
      <vt:lpstr>Office Theme</vt:lpstr>
      <vt:lpstr>SECJ2013 - DSA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MOHD RAZAK SAMINGAN</dc:creator>
  <cp:lastModifiedBy>Cheryl Cheong</cp:lastModifiedBy>
  <cp:revision>4</cp:revision>
  <dcterms:created xsi:type="dcterms:W3CDTF">2023-10-16T08:01:42Z</dcterms:created>
  <dcterms:modified xsi:type="dcterms:W3CDTF">2026-06-21T02:03:08Z</dcterms:modified>
</cp:coreProperties>
</file>